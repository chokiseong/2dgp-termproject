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63" r:id="rId3"/>
    <p:sldId id="264" r:id="rId4"/>
    <p:sldId id="26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1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F2B68A-E72D-49DD-849E-0E357E8D049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76B34-75C7-46F8-B41F-57807B17C9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388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76B34-75C7-46F8-B41F-57807B17C92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900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F83F6A-3F0B-ACC3-062F-951886A1E5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D00083-C78F-979E-A11A-E14E65111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CA0FCD-751D-BC39-B655-5EE5F9085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1D2C9-8D7B-4249-B52F-55ED58587FB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368A14-E1A1-2704-1FF8-743C6660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CEBA80-53F0-2252-4755-BF2E422C4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DFE9-A914-4BED-8E36-67FF1EEC6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253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28BB87-26E7-D86F-EE30-72020CADD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8087BA-0B55-9544-6887-A4E53A003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9B29B-7288-0D4B-5561-EA70D90B7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1D2C9-8D7B-4249-B52F-55ED58587FB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C773A1-42BC-D9DB-9648-FFF2489E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F29E25-021D-BF00-D53B-776D281D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DFE9-A914-4BED-8E36-67FF1EEC6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878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0701E-5A40-16FC-75A7-73422BC78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9F7CC6-2044-BDD1-AEEA-459553821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A43BD6-D12B-BBED-968C-BF7ACA120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1D2C9-8D7B-4249-B52F-55ED58587FB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435502-5B5A-E52F-13A9-51BCA4850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8CC1D3-90B1-56D6-D6D2-E36548560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DFE9-A914-4BED-8E36-67FF1EEC6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955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30630E-5BD8-261C-72A5-17400FE57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C4488A-01EC-92A4-0C56-E759210AAA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898B6A-9459-3D96-BD14-3AB5DA2C8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BEEF17-D948-1B12-E92A-F12314E8B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1D2C9-8D7B-4249-B52F-55ED58587FB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8CD0B1-1DAE-BDB4-5238-C63E2B1E4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A24459-2E16-72F8-736A-251B22426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DFE9-A914-4BED-8E36-67FF1EEC6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493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0985B-5ED2-BA6D-6EDF-C2A7A3B57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49C7C-32C2-C77D-7EA7-10CEE6526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5E1BC5-712A-FCBD-207C-4EB0132D8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053DDFA-6015-7A5E-82A3-1CDE1B09DB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189D879-C995-BE31-EC3D-B6616EEA0C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4723585-DAF7-8742-3E97-EE00B12F6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1D2C9-8D7B-4249-B52F-55ED58587FB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7E622B-D57B-50FB-45C1-1A3159C63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1BEE2B-421E-7F47-C32F-E90303C2C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DFE9-A914-4BED-8E36-67FF1EEC6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514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D99F61-A25C-4EE2-0786-6769198AE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2EC5B41-46CE-7C52-9639-A53AEC8AA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1D2C9-8D7B-4249-B52F-55ED58587FB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F43747-B103-971F-FA43-19952D169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EC2C25-E61D-B3DF-B6C6-0E7FD2D4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DFE9-A914-4BED-8E36-67FF1EEC6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221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B707144-0BEE-7C73-5A60-CC62FBF9A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1D2C9-8D7B-4249-B52F-55ED58587FB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13BFAE-A8EC-3510-5DF3-0BDDE1D83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7C659C-F3CF-5E0F-0E1D-D9A1EADB5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DFE9-A914-4BED-8E36-67FF1EEC6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79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2C918F-404C-5AA5-0865-FA402F1E5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D33F61-1C45-C048-061B-8288E948B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9D418D-0DEA-FDC0-F6E3-32C9EAD4E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ABB7C5-6ECA-747C-3F74-DFD1D599E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1D2C9-8D7B-4249-B52F-55ED58587FB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EF0E5B-D4D7-E1CE-BD2F-C75C9FA2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A5F9CF-4537-3955-E217-D1DD5791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DFE9-A914-4BED-8E36-67FF1EEC6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096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503AF-17FB-0A19-AC26-7E6878577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A060155-38A7-1F3C-9D5E-06664C5287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2100BD-24EB-30C1-6D74-68E52FFA5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AB5E9F-45F6-4E11-3249-FF52BB794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1D2C9-8D7B-4249-B52F-55ED58587FB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59AA57-FC16-E9F3-4645-BD05ADA56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8A4F5C-543F-FC9D-102C-66721C4C7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DFE9-A914-4BED-8E36-67FF1EEC6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15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15E5ED-A8EF-B7FF-AE00-EF2507CD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BCCDEF-9D84-08FC-4B99-B825C33A6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A48E43-16F3-6BD5-8BC3-E41F78F89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1D2C9-8D7B-4249-B52F-55ED58587FB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CAE6EF-385D-461D-150A-1375BF6B5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CD161A-584A-523F-DE87-7DB21ABB3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DFE9-A914-4BED-8E36-67FF1EEC6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995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E41F2DB-65DA-551D-1F1C-2C5D4B2B51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594E1A-2F0A-C1F1-E98C-CFC5FD759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19BADC-0F41-CBDA-6E53-ECCBECEB3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1D2C9-8D7B-4249-B52F-55ED58587FB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CBCB81-ACDE-A2CA-80BF-02CE4A9FD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35C087-A5CD-257E-26C2-77F449F7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DFE9-A914-4BED-8E36-67FF1EEC6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5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9B9C8E-5979-401F-3B08-0830F3741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B40D30-6AB0-298C-B4B9-127A5311D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966DA3-3B27-BDA0-0BFB-A2C42823E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D2C9-8D7B-4249-B52F-55ED58587FB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3ED9F3-DCE9-DA73-5BFF-F1DF28150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01B8EC-C95E-B282-8CCE-7D8FBE125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D0DFE9-A914-4BED-8E36-67FF1EEC6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70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33" y="431800"/>
            <a:ext cx="11557000" cy="61129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0" y="287867"/>
            <a:ext cx="2794000" cy="448733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7867"/>
            <a:ext cx="2794000" cy="448733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0" y="287867"/>
            <a:ext cx="2794000" cy="44873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" y="287867"/>
            <a:ext cx="2794000" cy="448733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3242733" y="-2091267"/>
            <a:ext cx="5715000" cy="11176000"/>
          </a:xfrm>
          <a:prstGeom prst="rect">
            <a:avLst/>
          </a:prstGeom>
          <a:effectLst>
            <a:outerShdw dist="65938" dir="21540000">
              <a:srgbClr val="000000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960000">
            <a:off x="3369734" y="1625600"/>
            <a:ext cx="1413933" cy="1413933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1532467"/>
            <a:ext cx="1473200" cy="1473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600000">
            <a:off x="3953933" y="1456267"/>
            <a:ext cx="1405467" cy="1617133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202267" y="4013200"/>
            <a:ext cx="9779000" cy="5926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03749"/>
              </a:lnSpc>
            </a:pPr>
            <a:r>
              <a:rPr lang="en-US" sz="3334">
                <a:solidFill>
                  <a:srgbClr val="427C55"/>
                </a:solidFill>
                <a:latin typeface="JalpullineunharuOTF Medium"/>
              </a:rPr>
              <a:t>2023182034 </a:t>
            </a:r>
            <a:r>
              <a:rPr lang="ko-KR" altLang="en-US" sz="3334">
                <a:solidFill>
                  <a:srgbClr val="427C55"/>
                </a:solidFill>
                <a:ea typeface="JalpullineunharuOTF Medium"/>
              </a:rPr>
              <a:t>게임공학과</a:t>
            </a:r>
            <a:r>
              <a:rPr lang="en-US" sz="3334">
                <a:solidFill>
                  <a:srgbClr val="427C55"/>
                </a:solidFill>
                <a:latin typeface="JalpullineunharuOTF Medium"/>
              </a:rPr>
              <a:t> </a:t>
            </a:r>
            <a:r>
              <a:rPr lang="ko-KR" altLang="en-US" sz="3334">
                <a:solidFill>
                  <a:srgbClr val="427C55"/>
                </a:solidFill>
                <a:ea typeface="JalpullineunharuOTF Medium"/>
              </a:rPr>
              <a:t>조기성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8400" y="2904067"/>
            <a:ext cx="9855200" cy="11260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03749"/>
              </a:lnSpc>
            </a:pPr>
            <a:r>
              <a:rPr lang="en-US" sz="6334" dirty="0">
                <a:solidFill>
                  <a:srgbClr val="A8A6A1"/>
                </a:solidFill>
                <a:latin typeface="JalpullineunharuOTF Medium"/>
              </a:rPr>
              <a:t>2DGP 2</a:t>
            </a:r>
            <a:r>
              <a:rPr lang="ko-KR" altLang="en-US" sz="6334" dirty="0">
                <a:solidFill>
                  <a:srgbClr val="A8A6A1"/>
                </a:solidFill>
                <a:latin typeface="JalpullineunharuOTF Medium"/>
              </a:rPr>
              <a:t>차 </a:t>
            </a:r>
            <a:r>
              <a:rPr lang="ko-KR" altLang="en-US" sz="6334" dirty="0">
                <a:solidFill>
                  <a:srgbClr val="A8A6A1"/>
                </a:solidFill>
                <a:ea typeface="JalpullineunharuOTF Medium"/>
              </a:rPr>
              <a:t>발표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22467" y="1337734"/>
            <a:ext cx="787400" cy="4233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1220"/>
              </a:lnSpc>
            </a:pPr>
            <a:r>
              <a:rPr lang="en-US" sz="2400" spc="133">
                <a:solidFill>
                  <a:srgbClr val="FFFFFF"/>
                </a:solidFill>
                <a:latin typeface="Pretendard SemiBold"/>
              </a:rPr>
              <a:t>04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30933" y="1176867"/>
            <a:ext cx="762000" cy="2624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1220"/>
              </a:lnSpc>
            </a:pPr>
            <a:r>
              <a:rPr lang="en-US" sz="1467" spc="67">
                <a:solidFill>
                  <a:srgbClr val="FFFFFF"/>
                </a:solidFill>
                <a:latin typeface="Pretendard SemiBold"/>
              </a:rPr>
              <a:t>2090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33" y="431800"/>
            <a:ext cx="11557000" cy="61129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0" y="287867"/>
            <a:ext cx="2794000" cy="448733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7867"/>
            <a:ext cx="2794000" cy="448733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0" y="287867"/>
            <a:ext cx="2794000" cy="44873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" y="287867"/>
            <a:ext cx="2794000" cy="448733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3242733" y="-2091267"/>
            <a:ext cx="5715000" cy="11176000"/>
          </a:xfrm>
          <a:prstGeom prst="rect">
            <a:avLst/>
          </a:prstGeom>
          <a:effectLst>
            <a:outerShdw dist="65938" dir="21540000">
              <a:srgbClr val="000000">
                <a:alpha val="15000"/>
              </a:srgbClr>
            </a:outerShdw>
          </a:effectLst>
        </p:spPr>
      </p:pic>
      <p:sp>
        <p:nvSpPr>
          <p:cNvPr id="8" name="TextBox 8"/>
          <p:cNvSpPr txBox="1"/>
          <p:nvPr/>
        </p:nvSpPr>
        <p:spPr>
          <a:xfrm>
            <a:off x="948267" y="1320800"/>
            <a:ext cx="2802467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endParaRPr lang="ko-KR" altLang="en-US" sz="5000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27200" y="4106333"/>
            <a:ext cx="2463800" cy="1244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endParaRPr lang="ko-KR" altLang="en-US" sz="1733" dirty="0">
              <a:solidFill>
                <a:srgbClr val="000000"/>
              </a:solidFill>
              <a:ea typeface="Pretendard SemiBold"/>
            </a:endParaRPr>
          </a:p>
          <a:p>
            <a:pPr lvl="0" algn="l">
              <a:lnSpc>
                <a:spcPct val="116199"/>
              </a:lnSpc>
            </a:pPr>
            <a:endParaRPr lang="ko-KR" altLang="en-US" sz="1733" dirty="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27200" y="5266267"/>
            <a:ext cx="2463800" cy="93133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28611" indent="-228611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endParaRPr lang="ko-KR" altLang="en-US" sz="1733" dirty="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727200" y="3014134"/>
            <a:ext cx="2463800" cy="93133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28611" indent="-228611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endParaRPr lang="ko-KR" altLang="en-US" sz="1733" dirty="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627EB7-6B6C-4846-7CDF-A4852807ADAD}"/>
              </a:ext>
            </a:extLst>
          </p:cNvPr>
          <p:cNvSpPr txBox="1"/>
          <p:nvPr/>
        </p:nvSpPr>
        <p:spPr>
          <a:xfrm>
            <a:off x="1277696" y="700946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프로젝트 개발 진행 상황 </a:t>
            </a:r>
            <a:r>
              <a:rPr lang="en-US" altLang="ko-KR" b="1" dirty="0"/>
              <a:t>– 1~5</a:t>
            </a:r>
            <a:r>
              <a:rPr lang="ko-KR" altLang="en-US" b="1" dirty="0"/>
              <a:t>주 기준 평균 </a:t>
            </a:r>
            <a:r>
              <a:rPr lang="en-US" altLang="ko-KR" b="1" dirty="0"/>
              <a:t>75%</a:t>
            </a:r>
            <a:endParaRPr lang="ko-KR" altLang="en-US" b="1" dirty="0"/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DC4760DF-7185-C43E-68AF-7E9D31BAE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730642"/>
              </p:ext>
            </p:extLst>
          </p:nvPr>
        </p:nvGraphicFramePr>
        <p:xfrm>
          <a:off x="948267" y="1067564"/>
          <a:ext cx="105334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918">
                  <a:extLst>
                    <a:ext uri="{9D8B030D-6E8A-4147-A177-3AD203B41FA5}">
                      <a16:colId xmlns:a16="http://schemas.microsoft.com/office/drawing/2014/main" val="3793835055"/>
                    </a:ext>
                  </a:extLst>
                </a:gridCol>
                <a:gridCol w="8479766">
                  <a:extLst>
                    <a:ext uri="{9D8B030D-6E8A-4147-A177-3AD203B41FA5}">
                      <a16:colId xmlns:a16="http://schemas.microsoft.com/office/drawing/2014/main" val="2253663863"/>
                    </a:ext>
                  </a:extLst>
                </a:gridCol>
                <a:gridCol w="1112808">
                  <a:extLst>
                    <a:ext uri="{9D8B030D-6E8A-4147-A177-3AD203B41FA5}">
                      <a16:colId xmlns:a16="http://schemas.microsoft.com/office/drawing/2014/main" val="130430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진행률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2572"/>
                  </a:ext>
                </a:extLst>
              </a:tr>
            </a:tbl>
          </a:graphicData>
        </a:graphic>
      </p:graphicFrame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5BC6D631-7970-076A-CACC-1C529CA5A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028238"/>
              </p:ext>
            </p:extLst>
          </p:nvPr>
        </p:nvGraphicFramePr>
        <p:xfrm>
          <a:off x="948267" y="1443142"/>
          <a:ext cx="940918" cy="4757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918">
                  <a:extLst>
                    <a:ext uri="{9D8B030D-6E8A-4147-A177-3AD203B41FA5}">
                      <a16:colId xmlns:a16="http://schemas.microsoft.com/office/drawing/2014/main" val="4257939741"/>
                    </a:ext>
                  </a:extLst>
                </a:gridCol>
              </a:tblGrid>
              <a:tr h="7056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solidFill>
                            <a:schemeClr val="tx2"/>
                          </a:solidFill>
                        </a:rPr>
                        <a:t>1</a:t>
                      </a:r>
                      <a:r>
                        <a:rPr lang="ko-KR" altLang="en-US" b="1" dirty="0">
                          <a:solidFill>
                            <a:schemeClr val="tx2"/>
                          </a:solidFill>
                        </a:rPr>
                        <a:t>주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986279"/>
                  </a:ext>
                </a:extLst>
              </a:tr>
              <a:tr h="7459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2</a:t>
                      </a:r>
                      <a:r>
                        <a:rPr lang="ko-KR" altLang="en-US" b="1" dirty="0"/>
                        <a:t>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207343"/>
                  </a:ext>
                </a:extLst>
              </a:tr>
              <a:tr h="7399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3</a:t>
                      </a:r>
                      <a:r>
                        <a:rPr lang="ko-KR" altLang="en-US" b="1" dirty="0"/>
                        <a:t>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416160"/>
                  </a:ext>
                </a:extLst>
              </a:tr>
              <a:tr h="7313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4</a:t>
                      </a:r>
                      <a:r>
                        <a:rPr lang="ko-KR" altLang="en-US" b="1" dirty="0"/>
                        <a:t>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545820"/>
                  </a:ext>
                </a:extLst>
              </a:tr>
              <a:tr h="3648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5</a:t>
                      </a:r>
                      <a:r>
                        <a:rPr lang="ko-KR" altLang="en-US" b="1" dirty="0"/>
                        <a:t>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883031"/>
                  </a:ext>
                </a:extLst>
              </a:tr>
              <a:tr h="3648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6</a:t>
                      </a:r>
                      <a:r>
                        <a:rPr lang="ko-KR" altLang="en-US" b="1" dirty="0"/>
                        <a:t>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420058"/>
                  </a:ext>
                </a:extLst>
              </a:tr>
              <a:tr h="3717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7</a:t>
                      </a:r>
                      <a:r>
                        <a:rPr lang="ko-KR" altLang="en-US" b="1" dirty="0"/>
                        <a:t>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489121"/>
                  </a:ext>
                </a:extLst>
              </a:tr>
              <a:tr h="3648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8</a:t>
                      </a:r>
                      <a:r>
                        <a:rPr lang="ko-KR" altLang="en-US" b="1" dirty="0"/>
                        <a:t>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958832"/>
                  </a:ext>
                </a:extLst>
              </a:tr>
              <a:tr h="3648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9</a:t>
                      </a:r>
                      <a:r>
                        <a:rPr lang="ko-KR" altLang="en-US" b="1" dirty="0"/>
                        <a:t>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199160"/>
                  </a:ext>
                </a:extLst>
              </a:tr>
            </a:tbl>
          </a:graphicData>
        </a:graphic>
      </p:graphicFrame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4B3125E2-3BCF-38AB-C44B-065B41C34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515506"/>
              </p:ext>
            </p:extLst>
          </p:nvPr>
        </p:nvGraphicFramePr>
        <p:xfrm>
          <a:off x="1904999" y="1441759"/>
          <a:ext cx="8455325" cy="4754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178">
                  <a:extLst>
                    <a:ext uri="{9D8B030D-6E8A-4147-A177-3AD203B41FA5}">
                      <a16:colId xmlns:a16="http://schemas.microsoft.com/office/drawing/2014/main" val="3975065283"/>
                    </a:ext>
                  </a:extLst>
                </a:gridCol>
                <a:gridCol w="7755147">
                  <a:extLst>
                    <a:ext uri="{9D8B030D-6E8A-4147-A177-3AD203B41FA5}">
                      <a16:colId xmlns:a16="http://schemas.microsoft.com/office/drawing/2014/main" val="349493939"/>
                    </a:ext>
                  </a:extLst>
                </a:gridCol>
              </a:tblGrid>
              <a:tr h="3677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계획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600" b="0" dirty="0">
                          <a:solidFill>
                            <a:srgbClr val="000000"/>
                          </a:solidFill>
                          <a:ea typeface="Pretendard SemiBold"/>
                        </a:rPr>
                        <a:t>여러</a:t>
                      </a:r>
                      <a:r>
                        <a:rPr lang="en-US" altLang="ko-KR" sz="1600" b="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rgbClr val="000000"/>
                          </a:solidFill>
                          <a:ea typeface="Pretendard SemiBold"/>
                        </a:rPr>
                        <a:t>리소스</a:t>
                      </a:r>
                      <a:r>
                        <a:rPr lang="en-US" altLang="ko-KR" sz="1600" b="0" dirty="0">
                          <a:solidFill>
                            <a:srgbClr val="000000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rgbClr val="000000"/>
                          </a:solidFill>
                          <a:ea typeface="Pretendard SemiBold"/>
                        </a:rPr>
                        <a:t>자료</a:t>
                      </a:r>
                      <a:r>
                        <a:rPr lang="en-US" altLang="ko-KR" sz="1600" b="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rgbClr val="000000"/>
                          </a:solidFill>
                          <a:ea typeface="Pretendard SemiBold"/>
                        </a:rPr>
                        <a:t>수집</a:t>
                      </a:r>
                      <a:r>
                        <a:rPr lang="en-US" altLang="ko-KR" sz="1600" b="0" dirty="0">
                          <a:solidFill>
                            <a:srgbClr val="000000"/>
                          </a:solidFill>
                          <a:ea typeface="Pretendard SemiBold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rgbClr val="000000"/>
                          </a:solidFill>
                          <a:ea typeface="Pretendard SemiBold"/>
                        </a:rPr>
                        <a:t>게임의</a:t>
                      </a:r>
                      <a:r>
                        <a:rPr lang="en-US" altLang="ko-KR" sz="1600" b="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rgbClr val="000000"/>
                          </a:solidFill>
                          <a:ea typeface="Pretendard SemiBold"/>
                        </a:rPr>
                        <a:t>세부사항</a:t>
                      </a:r>
                      <a:r>
                        <a:rPr lang="en-US" altLang="ko-KR" sz="1600" b="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rgbClr val="000000"/>
                          </a:solidFill>
                          <a:ea typeface="Pretendard SemiBold"/>
                        </a:rPr>
                        <a:t>기획</a:t>
                      </a:r>
                      <a:r>
                        <a:rPr lang="en-US" altLang="ko-KR" sz="1600" b="0" dirty="0">
                          <a:solidFill>
                            <a:srgbClr val="000000"/>
                          </a:solidFill>
                          <a:ea typeface="Pretendard SemiBold"/>
                        </a:rPr>
                        <a:t>, </a:t>
                      </a:r>
                      <a:r>
                        <a:rPr lang="en-US" altLang="ko-KR" sz="1600" b="0" dirty="0">
                          <a:solidFill>
                            <a:srgbClr val="000000"/>
                          </a:solidFill>
                          <a:latin typeface="Pretendard SemiBold"/>
                        </a:rPr>
                        <a:t>bpm </a:t>
                      </a:r>
                      <a:r>
                        <a:rPr lang="ko-KR" altLang="en-US" sz="1600" b="0" dirty="0">
                          <a:solidFill>
                            <a:srgbClr val="000000"/>
                          </a:solidFill>
                          <a:ea typeface="Pretendard SemiBold"/>
                        </a:rPr>
                        <a:t>로직</a:t>
                      </a:r>
                      <a:r>
                        <a:rPr lang="en-US" altLang="ko-KR" sz="1600" b="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rgbClr val="000000"/>
                          </a:solidFill>
                          <a:ea typeface="Pretendard SemiBold"/>
                        </a:rPr>
                        <a:t>구현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588343"/>
                  </a:ext>
                </a:extLst>
              </a:tr>
              <a:tr h="338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리소스는 개발 도중 </a:t>
                      </a:r>
                      <a:r>
                        <a:rPr lang="ko-KR" altLang="en-US" sz="1600" dirty="0" err="1">
                          <a:solidFill>
                            <a:srgbClr val="000000"/>
                          </a:solidFill>
                          <a:ea typeface="Pretendard SemiBold"/>
                        </a:rPr>
                        <a:t>틈틈히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 찾게 됨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. bpm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로직은 꽤 괜찮은 수준으로 구현 완료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51137"/>
                  </a:ext>
                </a:extLst>
              </a:tr>
              <a:tr h="3677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61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그리드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맵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제작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,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 캐릭터의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이동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136700"/>
                  </a:ext>
                </a:extLst>
              </a:tr>
              <a:tr h="3886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맵 제작 후 </a:t>
                      </a:r>
                      <a:r>
                        <a:rPr lang="ko-KR" altLang="en-US" sz="1600" dirty="0" err="1"/>
                        <a:t>맵의</a:t>
                      </a:r>
                      <a:r>
                        <a:rPr lang="ko-KR" altLang="en-US" sz="1600" dirty="0"/>
                        <a:t> 칸 위에서 움직이게 이동 구현 완료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817010"/>
                  </a:ext>
                </a:extLst>
              </a:tr>
              <a:tr h="35142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캐릭터의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회피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구현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캐릭터의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공격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구현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캐릭터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선택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창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047485"/>
                  </a:ext>
                </a:extLst>
              </a:tr>
              <a:tr h="38929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게임에서 회피 사용</a:t>
                      </a:r>
                      <a:r>
                        <a:rPr lang="en-US" altLang="ko-KR" sz="1600" dirty="0"/>
                        <a:t>x, </a:t>
                      </a:r>
                      <a:r>
                        <a:rPr lang="ko-KR" altLang="en-US" sz="1600" dirty="0"/>
                        <a:t>캐릭터 공격 </a:t>
                      </a:r>
                      <a:r>
                        <a:rPr lang="en-US" altLang="ko-KR" sz="1600" dirty="0"/>
                        <a:t>2</a:t>
                      </a:r>
                      <a:r>
                        <a:rPr lang="ko-KR" altLang="en-US" sz="1600" dirty="0"/>
                        <a:t>가지 구현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캐릭터 선택창 프로토타입 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057318"/>
                  </a:ext>
                </a:extLst>
              </a:tr>
              <a:tr h="3677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캐릭터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조작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다듬기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간단한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프로토타입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완성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157031"/>
                  </a:ext>
                </a:extLst>
              </a:tr>
              <a:tr h="3729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캐릭터 조작 다듬기 실패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현재 프로토타입 </a:t>
                      </a:r>
                      <a:r>
                        <a:rPr lang="en-US" altLang="ko-KR" sz="1600" dirty="0"/>
                        <a:t>50% </a:t>
                      </a:r>
                      <a:r>
                        <a:rPr lang="ko-KR" altLang="en-US" sz="1600" dirty="0"/>
                        <a:t>완성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599461"/>
                  </a:ext>
                </a:extLst>
              </a:tr>
              <a:tr h="3747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중간고사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기간 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(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아이디어 구상만 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)</a:t>
                      </a:r>
                      <a:endParaRPr lang="ko-KR" altLang="en-US" sz="1600" dirty="0">
                        <a:solidFill>
                          <a:srgbClr val="000000"/>
                        </a:solidFill>
                        <a:ea typeface="Pretendard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626402"/>
                  </a:ext>
                </a:extLst>
              </a:tr>
              <a:tr h="3588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캐릭터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별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스킬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구현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및 테스트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후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스킬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조정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312429"/>
                  </a:ext>
                </a:extLst>
              </a:tr>
              <a:tr h="3588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메인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종료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화면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구현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캐릭터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 err="1">
                          <a:solidFill>
                            <a:srgbClr val="000000"/>
                          </a:solidFill>
                          <a:ea typeface="Pretendard SemiBold"/>
                        </a:rPr>
                        <a:t>필살기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구현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캐릭터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밸런스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조절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747162"/>
                  </a:ext>
                </a:extLst>
              </a:tr>
              <a:tr h="3588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프로토타입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완성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테스트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후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다듬기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285591"/>
                  </a:ext>
                </a:extLst>
              </a:tr>
              <a:tr h="3588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부족한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부분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개선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튜토리얼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구현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ea typeface="Pretendard SemiBold"/>
                        </a:rPr>
                        <a:t>희망사항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Pretendard SemiBold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964101"/>
                  </a:ext>
                </a:extLst>
              </a:tr>
            </a:tbl>
          </a:graphicData>
        </a:graphic>
      </p:graphicFrame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7515CD6F-1652-FC5C-66E8-40295F743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037690"/>
              </p:ext>
            </p:extLst>
          </p:nvPr>
        </p:nvGraphicFramePr>
        <p:xfrm>
          <a:off x="10376138" y="1438404"/>
          <a:ext cx="1105621" cy="4757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21">
                  <a:extLst>
                    <a:ext uri="{9D8B030D-6E8A-4147-A177-3AD203B41FA5}">
                      <a16:colId xmlns:a16="http://schemas.microsoft.com/office/drawing/2014/main" val="4257939741"/>
                    </a:ext>
                  </a:extLst>
                </a:gridCol>
              </a:tblGrid>
              <a:tr h="7056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70%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986279"/>
                  </a:ext>
                </a:extLst>
              </a:tr>
              <a:tr h="7459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207343"/>
                  </a:ext>
                </a:extLst>
              </a:tr>
              <a:tr h="7399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416160"/>
                  </a:ext>
                </a:extLst>
              </a:tr>
              <a:tr h="7313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50%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545820"/>
                  </a:ext>
                </a:extLst>
              </a:tr>
              <a:tr h="3648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60%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883031"/>
                  </a:ext>
                </a:extLst>
              </a:tr>
              <a:tr h="3648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10%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420058"/>
                  </a:ext>
                </a:extLst>
              </a:tr>
              <a:tr h="3717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20%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489121"/>
                  </a:ext>
                </a:extLst>
              </a:tr>
              <a:tr h="364831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958832"/>
                  </a:ext>
                </a:extLst>
              </a:tr>
              <a:tr h="364831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199160"/>
                  </a:ext>
                </a:extLst>
              </a:tr>
            </a:tbl>
          </a:graphicData>
        </a:graphic>
      </p:graphicFrame>
      <p:pic>
        <p:nvPicPr>
          <p:cNvPr id="42" name="그림 41">
            <a:extLst>
              <a:ext uri="{FF2B5EF4-FFF2-40B4-BE49-F238E27FC236}">
                <a16:creationId xmlns:a16="http://schemas.microsoft.com/office/drawing/2014/main" id="{BF06EEBE-9026-53C2-E296-780412AEEE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034" y="657099"/>
            <a:ext cx="333422" cy="4057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9D2A6-45C7-6205-8728-DF0886FB4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3B5C4F6-DE5D-87A3-8C4C-A4137E809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33" y="431800"/>
            <a:ext cx="11557000" cy="6112933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4621194-D493-3CCC-ECE4-5DE2D74BF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0" y="287867"/>
            <a:ext cx="2794000" cy="448733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5730964-EDBB-DBD3-F10C-5F88ADB8B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7867"/>
            <a:ext cx="2794000" cy="448733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AB9CBEF2-5603-4834-007A-7B83F517F6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0" y="287867"/>
            <a:ext cx="2794000" cy="448733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8B0581BF-0669-B546-5553-8481CAD719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" y="287867"/>
            <a:ext cx="2794000" cy="448733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0C59C0BE-716B-9BE1-0231-6766ED9DA1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3242733" y="-2091267"/>
            <a:ext cx="5715000" cy="11176000"/>
          </a:xfrm>
          <a:prstGeom prst="rect">
            <a:avLst/>
          </a:prstGeom>
          <a:effectLst>
            <a:outerShdw dist="65938" dir="21540000">
              <a:srgbClr val="000000">
                <a:alpha val="15000"/>
              </a:srgbClr>
            </a:outerShdw>
          </a:effectLst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589E517B-164B-8465-AA6E-76F9C76E6DA8}"/>
              </a:ext>
            </a:extLst>
          </p:cNvPr>
          <p:cNvSpPr txBox="1"/>
          <p:nvPr/>
        </p:nvSpPr>
        <p:spPr>
          <a:xfrm>
            <a:off x="10422467" y="1337734"/>
            <a:ext cx="787400" cy="4233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1220"/>
              </a:lnSpc>
            </a:pPr>
            <a:r>
              <a:rPr lang="en-US" sz="2400" spc="133">
                <a:solidFill>
                  <a:srgbClr val="FFFFFF"/>
                </a:solidFill>
                <a:latin typeface="Pretendard SemiBold"/>
              </a:rPr>
              <a:t>04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FD03296-BC1F-3745-FFAE-66F698DF8410}"/>
              </a:ext>
            </a:extLst>
          </p:cNvPr>
          <p:cNvSpPr txBox="1"/>
          <p:nvPr/>
        </p:nvSpPr>
        <p:spPr>
          <a:xfrm>
            <a:off x="10430933" y="1176867"/>
            <a:ext cx="762000" cy="2624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1220"/>
              </a:lnSpc>
            </a:pPr>
            <a:r>
              <a:rPr lang="en-US" sz="1467" spc="67">
                <a:solidFill>
                  <a:srgbClr val="FFFFFF"/>
                </a:solidFill>
                <a:latin typeface="Pretendard SemiBold"/>
              </a:rPr>
              <a:t>2090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0C9345-CF79-C95A-95F8-B8F4364B7406}"/>
              </a:ext>
            </a:extLst>
          </p:cNvPr>
          <p:cNvSpPr txBox="1"/>
          <p:nvPr/>
        </p:nvSpPr>
        <p:spPr>
          <a:xfrm>
            <a:off x="1493328" y="1123434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/>
              <a:t>프로젝트 계획 수정 내용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CBEC6C-B797-A61C-E005-C22F2B44D06B}"/>
              </a:ext>
            </a:extLst>
          </p:cNvPr>
          <p:cNvSpPr txBox="1"/>
          <p:nvPr/>
        </p:nvSpPr>
        <p:spPr>
          <a:xfrm>
            <a:off x="1043797" y="1701041"/>
            <a:ext cx="103603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캐릭터의 회피를 게임에서 제외하기로 기획</a:t>
            </a:r>
            <a:endParaRPr lang="en-US" altLang="ko-KR" dirty="0"/>
          </a:p>
          <a:p>
            <a:r>
              <a:rPr lang="en-US" altLang="ko-KR" dirty="0"/>
              <a:t>   - </a:t>
            </a:r>
            <a:r>
              <a:rPr lang="ko-KR" altLang="en-US" dirty="0"/>
              <a:t>초반에는 박자가 느린 편 </a:t>
            </a:r>
            <a:r>
              <a:rPr lang="en-US" altLang="ko-KR" dirty="0"/>
              <a:t>-&gt; </a:t>
            </a:r>
            <a:r>
              <a:rPr lang="ko-KR" altLang="en-US" dirty="0"/>
              <a:t>상대의 공격을 피하기 쉬움</a:t>
            </a:r>
            <a:endParaRPr lang="en-US" altLang="ko-KR" dirty="0"/>
          </a:p>
          <a:p>
            <a:r>
              <a:rPr lang="en-US" altLang="ko-KR" dirty="0"/>
              <a:t>   - </a:t>
            </a:r>
            <a:r>
              <a:rPr lang="ko-KR" altLang="en-US" dirty="0"/>
              <a:t>따라서 회피가 없어야 초반 진행이 원활하다고 판단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튜토리얼 간소화</a:t>
            </a:r>
            <a:endParaRPr lang="en-US" altLang="ko-KR" dirty="0"/>
          </a:p>
          <a:p>
            <a:r>
              <a:rPr lang="en-US" altLang="ko-KR" dirty="0"/>
              <a:t>   - 5</a:t>
            </a:r>
            <a:r>
              <a:rPr lang="ko-KR" altLang="en-US" dirty="0"/>
              <a:t>주동안의 개발 진행 속도를 생각해보았을 때 튜토리얼을 구현할 시간이 부족하다고 판단</a:t>
            </a:r>
            <a:endParaRPr lang="en-US" altLang="ko-KR" dirty="0"/>
          </a:p>
          <a:p>
            <a:r>
              <a:rPr lang="en-US" altLang="ko-KR" dirty="0"/>
              <a:t>   - </a:t>
            </a:r>
            <a:r>
              <a:rPr lang="ko-KR" altLang="en-US" dirty="0"/>
              <a:t>그래서 버튼 가이드를 띄우는 화면 정도만 구현할 계획 </a:t>
            </a:r>
            <a:r>
              <a:rPr lang="en-US" altLang="ko-KR" dirty="0"/>
              <a:t>(ex:</a:t>
            </a:r>
          </a:p>
          <a:p>
            <a:r>
              <a:rPr lang="en-US" altLang="ko-KR" dirty="0"/>
              <a:t>        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E0BE51F-AE3D-CBBB-B61B-8A8CB619B8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186" y="1002677"/>
            <a:ext cx="645074" cy="54672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A1975214-73B6-E63D-E98B-869F16B646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3856" y="3125014"/>
            <a:ext cx="3260060" cy="266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838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190F2-B706-E97D-21C9-EF9A1D1C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EFCBA22-1F49-8556-DEC7-084236424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33" y="431800"/>
            <a:ext cx="11557000" cy="6112933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43B3FA2-4E20-DED9-4FCA-4434AE9AB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0" y="287867"/>
            <a:ext cx="2794000" cy="448733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BAC2804-035C-5931-A375-B1A1E260D8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87867"/>
            <a:ext cx="2794000" cy="448733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29483D1D-0D71-D8F1-E1D4-3A4852CCCF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2000" y="287867"/>
            <a:ext cx="2794000" cy="448733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24B7B10-F1DF-ED96-26FA-C6F7A834F9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000" y="287867"/>
            <a:ext cx="2794000" cy="448733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06EA61C1-1CDE-5CF9-28A9-89582867FE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3242733" y="-2091267"/>
            <a:ext cx="5715000" cy="11176000"/>
          </a:xfrm>
          <a:prstGeom prst="rect">
            <a:avLst/>
          </a:prstGeom>
          <a:effectLst>
            <a:outerShdw dist="65938" dir="21540000">
              <a:srgbClr val="000000">
                <a:alpha val="15000"/>
              </a:srgbClr>
            </a:outerShdw>
          </a:effectLst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ED7E4796-77E9-60EC-BF73-AD5F179C9317}"/>
              </a:ext>
            </a:extLst>
          </p:cNvPr>
          <p:cNvSpPr txBox="1"/>
          <p:nvPr/>
        </p:nvSpPr>
        <p:spPr>
          <a:xfrm>
            <a:off x="10422467" y="1337734"/>
            <a:ext cx="787400" cy="4233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1220"/>
              </a:lnSpc>
            </a:pPr>
            <a:r>
              <a:rPr lang="en-US" sz="2400" spc="133">
                <a:solidFill>
                  <a:srgbClr val="FFFFFF"/>
                </a:solidFill>
                <a:latin typeface="Pretendard SemiBold"/>
              </a:rPr>
              <a:t>04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63D6922-E08E-54C8-DE61-51BF5991C374}"/>
              </a:ext>
            </a:extLst>
          </p:cNvPr>
          <p:cNvSpPr txBox="1"/>
          <p:nvPr/>
        </p:nvSpPr>
        <p:spPr>
          <a:xfrm>
            <a:off x="10430933" y="1176867"/>
            <a:ext cx="762000" cy="2624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1220"/>
              </a:lnSpc>
            </a:pPr>
            <a:r>
              <a:rPr lang="en-US" sz="1467" spc="67">
                <a:solidFill>
                  <a:srgbClr val="FFFFFF"/>
                </a:solidFill>
                <a:latin typeface="Pretendard SemiBold"/>
              </a:rPr>
              <a:t>2090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D9010F-0183-2921-981A-E4E96EDC7DF2}"/>
              </a:ext>
            </a:extLst>
          </p:cNvPr>
          <p:cNvSpPr txBox="1"/>
          <p:nvPr/>
        </p:nvSpPr>
        <p:spPr>
          <a:xfrm>
            <a:off x="1086581" y="646582"/>
            <a:ext cx="60945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 err="1"/>
              <a:t>Github</a:t>
            </a:r>
            <a:r>
              <a:rPr lang="en-US" altLang="ko-KR" sz="1600" b="1" dirty="0"/>
              <a:t> </a:t>
            </a:r>
            <a:r>
              <a:rPr lang="ko-KR" altLang="en-US" sz="1600" b="1" dirty="0" err="1"/>
              <a:t>커밋</a:t>
            </a:r>
            <a:r>
              <a:rPr lang="ko-KR" altLang="en-US" sz="1600" b="1" dirty="0"/>
              <a:t> 통계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7EC5A60-A903-A1ED-46CE-15BEC6AA5B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986" y="708082"/>
            <a:ext cx="255727" cy="33866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211DF5B-D461-F2F7-7F33-2522BF4AF3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1712" y="1042431"/>
            <a:ext cx="10184301" cy="531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0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267</Words>
  <Application>Microsoft Office PowerPoint</Application>
  <PresentationFormat>와이드스크린</PresentationFormat>
  <Paragraphs>63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JalpullineunharuOTF Medium</vt:lpstr>
      <vt:lpstr>Pretendard Bold</vt:lpstr>
      <vt:lpstr>Pretendard SemiBold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조기성(2023182034)</dc:creator>
  <cp:lastModifiedBy>조기성(2023182034)</cp:lastModifiedBy>
  <cp:revision>2</cp:revision>
  <dcterms:created xsi:type="dcterms:W3CDTF">2025-11-09T15:02:32Z</dcterms:created>
  <dcterms:modified xsi:type="dcterms:W3CDTF">2025-11-09T15:51:00Z</dcterms:modified>
</cp:coreProperties>
</file>